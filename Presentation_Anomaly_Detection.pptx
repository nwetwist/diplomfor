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5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9EAF7"/>
                </a:solidFill>
              </a:rPr>
              <a:t>МАГИСТЕРСКАЯ ДИССЕРТАЦИЯ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Разработка системы детекции аномального
сетевого трафика с использованием
методов машинного обучения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9EAF7"/>
                </a:solidFill>
              </a:rPr>
              <a:t>Направление 10.04.01 — Информационная безопасность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023360"/>
            <a:ext cx="48737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Актуальность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3657600" cy="516636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Вызовы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Рост зашифрованного трафика (TLS повсеместно)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Сигнатурные IDS не покрывают неизвестные атаки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Разметка инцидентов дорогостояща и редка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Операторы страдают от «усталости алертов»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Необходимость локального развёртывания (закрытые сети)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34440"/>
            <a:ext cx="3657600" cy="516636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48235"/>
                </a:solidFill>
              </a:rPr>
              <a:t>Тенденции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Переход к анализу поведения потоков вместо payload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ML без учителя как основа NDR-систем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Ансамблевые детекторы повышают устойчивость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Объяснимость алертов — ключевое требование SOC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Prometheus / Grafana как стандарт наблюдаемости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3685032" cy="51663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5911"/>
                </a:solidFill>
              </a:rPr>
              <a:t>Разрыв в исследованиях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Мало работ с воспроизводимым end-to-end конвейером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Порог и FPR редко рассматриваются как требования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Нет единого открытого прototипа с мониторингом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04040"/>
                </a:solidFill>
              </a:rPr>
              <a:t>▸  Синтетические сценарии недостаточно используются для проверки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Объект, предмет и цель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40312" cy="150876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91440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Объект исследования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04040"/>
                </a:solidFill>
              </a:rPr>
              <a:t>Сетевой трафик в компьютерных сетях и процессы его мониторинга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11640312" cy="150876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91440" cy="15087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35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48235"/>
                </a:solidFill>
              </a:rPr>
              <a:t>Предмет исследования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04040"/>
                </a:solidFill>
              </a:rPr>
              <a:t>Методы и программные средства детекции аномального трафика на основе статистических признаков и ML-моделей, а также критерии качества таких систем — точность, задержка, устойчивость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617720"/>
            <a:ext cx="11640312" cy="1508760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91440" cy="150876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27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65911"/>
                </a:solidFill>
              </a:rPr>
              <a:t>Цель исследования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04040"/>
                </a:solidFill>
              </a:rPr>
              <a:t>Разработать прototип системы детекции аномального сетевого трафика, использующей методы машинного обучения и признаки потоков/окон, и оценить её качество на воспроизводимых сценариях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Задачи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600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19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Обзор и сравнение подходов к детекции сетевых аномалий (сигнатурные, статистические, 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06039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606039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29260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199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Обоснование выбора источника данных: пакетная телеметрия и Parquet-датасет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31920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425195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Формирование признакового пространства: потоки/окна без анализа payload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57800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257800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5577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Реализация сбора и хранения с партиционированием date/hour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280160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80160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600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1417319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Обучение ансамбля (IForest + AutoEncoder) и выбор порогов T_low / T_high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606039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606039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2607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743199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Определение метрик качества: Precision, Recall, F1, ROC-AUC, PR-AUC, FPR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669280" cy="1188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41148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251959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406908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Проектирование архитектуры: сбор → признаки → ML → углублённая проверка → мониторинг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Анализ существующих методов детекции</a:t>
            </a:r>
          </a:p>
        </p:txBody>
      </p:sp>
      <p:pic>
        <p:nvPicPr>
          <p:cNvPr id="4" name="Picture 3" descr="figure_1_2_detection_method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029200" cy="27816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577840" y="1188720"/>
            <a:ext cx="626364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59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Метод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Объясн.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2344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Слабость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1234440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Сильная сторона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554480"/>
            <a:ext cx="6263640" cy="5029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160020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Сигнатурные IDS/IPS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0020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Высокая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60020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Новые атаки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60020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Задержка, FPR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057400"/>
            <a:ext cx="6263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59" y="210312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Статистические методы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0312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Средняя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0312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Дрейф фона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10312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Простота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60320"/>
            <a:ext cx="6263640" cy="5029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59" y="260604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ML без учителя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0604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Высокая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60604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FPR, объяснимость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60604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Адаптивность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3063240"/>
            <a:ext cx="6263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3108960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NDR-платформы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1089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Очень выс.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10896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Прозрачность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108960"/>
            <a:ext cx="14173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Поведение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703320"/>
            <a:ext cx="6263640" cy="77724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8404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8235"/>
                </a:solidFill>
              </a:rPr>
              <a:t>Вывод: гибридный подход (ML + правила) обеспечивает высокий recall при контролируемом FPR и объяснимые алерты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Данные и датасет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521208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Открытые источники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1206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CICIDS2017/2018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6712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Canadian Institute for Cybersecurity.
TCP/UDP потоки с метками атак:
BotNet, DDoS, PortScan, Brute Force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51206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19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UNSW-NB15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University of NSW.
49 признаков потоков, 9 классов атак.
Используется в задачах ML-детекции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09160"/>
            <a:ext cx="51206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82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9320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Генератор synthetic_generator.py.
Burst (×5 интенсивность) и Port Scan.
Воспроизводимые сценарии, известная разметка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188720"/>
            <a:ext cx="5925312" cy="5212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280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Формат хранения и предобработка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783080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783080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819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Захват / загрузка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305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Scapy/Npcap или CSV-импорт CICIDS → Parquet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624328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624328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660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Партиционирование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9718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Разбивка по date/hour для эффективной обработки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465576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465576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02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Группировка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813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flow_key = src_ip:sport — dst_ip:dport — protocol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306824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4306824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Признаки (16-мер.)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542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15 числовых + protocol_enc; без raw payload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148072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5148072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184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Нормализация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4955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StandardScaler, сохранён внутри ensemble.joblib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5989320"/>
            <a:ext cx="56509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5989320"/>
            <a:ext cx="73152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6025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Метки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63367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is_anomaly — известны из датасета или генератора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Архитектура системы</a:t>
            </a:r>
          </a:p>
        </p:txBody>
      </p:sp>
      <p:pic>
        <p:nvPicPr>
          <p:cNvPr id="4" name="Picture 3" descr="figure_2_1_traffic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40312" cy="274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4069080"/>
            <a:ext cx="2194560" cy="146304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4069080"/>
            <a:ext cx="2194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4096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Коллектор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Scapy/Npcap
Parquet, date/hour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4069080"/>
            <a:ext cx="2194560" cy="146304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4069080"/>
            <a:ext cx="2194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4096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Признаки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8056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16 признаков
flow_key агрег.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4069080"/>
            <a:ext cx="2194560" cy="146304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4069080"/>
            <a:ext cx="2194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4096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ML-слой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48056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IForest + AE
Anomaly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4069080"/>
            <a:ext cx="2194560" cy="146304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4069080"/>
            <a:ext cx="2194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4096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48056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5 правил
deep_inspection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4069080"/>
            <a:ext cx="2194560" cy="146304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38360" y="4069080"/>
            <a:ext cx="219456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40965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Мониторинг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48056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</a:rPr>
              <a:t>Prometheus
Grafana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Предложенное решение</a:t>
            </a:r>
          </a:p>
        </p:txBody>
      </p:sp>
      <p:pic>
        <p:nvPicPr>
          <p:cNvPr id="4" name="Picture 3" descr="figure_2_4_ml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486400" cy="2928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80760" y="1188720"/>
            <a:ext cx="5833872" cy="157276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188720"/>
            <a:ext cx="109728" cy="15727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Безучительский ансамбль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IForest (n=200) + AutoEncoder обучаются только
на нормальном трафике. Итоговый score = среднее
min-max нормированных оценок обоих алгоритмов.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926080"/>
            <a:ext cx="5833872" cy="157276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2926080"/>
            <a:ext cx="109728" cy="157276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035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48235"/>
                </a:solidFill>
              </a:rPr>
              <a:t>Двухпороговая схема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290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T_low = 90-й процентиль → suspicious
T_high = 99-й процентиль → malicious
(только при наличии rule:* подтверждения)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663440"/>
            <a:ext cx="5833872" cy="1572768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4663440"/>
            <a:ext cx="109728" cy="1572768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7731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5911"/>
                </a:solidFill>
              </a:rPr>
              <a:t>Углублённая проверка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6635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5 детерминированных правил (TCP SYN low ports,
high burst, high entropy, compressed timeline,
high ML score) — объяснимые алерты для SOC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Результаты: метрики качества (burst-сценарий)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48235"/>
                </a:solidFill>
              </a:rPr>
              <a:t>0.970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Модель обнаруживает
97% аномалий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0.955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Высокое качество
ранжирования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5B6"/>
                </a:solidFill>
              </a:rPr>
              <a:t>0.856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Устойчиво при
дисбалансе классов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564"/>
                </a:solidFill>
              </a:rPr>
              <a:t>0.641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Баланс точности
и полноты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65911"/>
                </a:solidFill>
              </a:rPr>
              <a:t>0.538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FPR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Требует калибровки
порогов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1188720"/>
            <a:ext cx="1874519" cy="228600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1280160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564"/>
                </a:solidFill>
              </a:rPr>
              <a:t>0.478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564"/>
                </a:solidFill>
              </a:rP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578608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Улучшится после
настройки порога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11880"/>
            <a:ext cx="11640312" cy="82296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48235"/>
                </a:solidFill>
              </a:rPr>
              <a:t>Высокий ROC-AUC (0.955) и recall (0.97) подтверждают эффективность безучительского ансамбля. FPR=0.54 объясним особенностями синтетических данных и калибруется повышением квантиля порога до 0.995.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Результаты: ROC- и PR-кривые</a:t>
            </a:r>
          </a:p>
        </p:txBody>
      </p:sp>
      <p:pic>
        <p:nvPicPr>
          <p:cNvPr id="4" name="Picture 3" descr="figure_3_6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589520" cy="31511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188720"/>
            <a:ext cx="3822191" cy="516636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2984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Интерпретация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Рабочая точка: recall=0.97, FPR=0.54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Смещение вправо по ROC снижает FPR при умеренной потере recall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PR-AUC=0.856 — хорошее качество при редком классе аномалий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Разрыв между ROC-AUC и PR-AUC незначителен: классы относительно сбалансированы в синтетике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Ансамбль (hybrid) незначительно превосходит IForest solo на burst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Результаты: динамика оценки аномальности</a:t>
            </a:r>
          </a:p>
        </p:txBody>
      </p:sp>
      <p:pic>
        <p:nvPicPr>
          <p:cNvPr id="4" name="Picture 3" descr="figure_3_8_sco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589520" cy="29859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188720"/>
            <a:ext cx="3822191" cy="516636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2984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564"/>
                </a:solidFill>
              </a:rPr>
              <a:t>Ключевые наблюдения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Score резко возрастает в интервале 30–40 с (burst-аномалия)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Вне интервала атаки score стабильно низкий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T_low=0.611 и T_high=0.858 корректно разделяют режимы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Система обнаруживает начало аномалии в первом же фрейме интервала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•  Метрика ndr_suspicious_rate в Prometheus отражает тот же паттерн в реальном времени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Выводы и направления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40312" cy="14173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09728" cy="14173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48235"/>
                </a:solidFill>
              </a:rPr>
              <a:t>Реализован воспроизводимый end-to-end конвейер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Scapy → Parquet → признаки → ML → правила → Prometheus. Все параметры в конфигурации, артефакты сохранены.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07208"/>
            <a:ext cx="11640312" cy="14173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807208"/>
            <a:ext cx="10972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986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Безучительский ансамбль эффективен для burst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ROC-AUC 0.955, recall 0.97 без доступа к содержимому пакетов. Подход применим к зашифрованному трафику.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79976"/>
            <a:ext cx="11640312" cy="14173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379976"/>
            <a:ext cx="109728" cy="141732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7141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5911"/>
                </a:solidFill>
              </a:rPr>
              <a:t>FPR требует калибровки — пути известны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82896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</a:rPr>
              <a:t>Повысить квантиль до 0.995; предфильтровать короткие потоки; добавить признак unique_dst_ports. Ожидаемое снижение FPR до 0.10–0.15.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760720"/>
            <a:ext cx="11640312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Направления:  сценарий port scan  ·  тест на реальном трафике  ·  адаптивный порог  ·  интеграция с SIEM  ·  расширение признаков (JA3, DNS)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